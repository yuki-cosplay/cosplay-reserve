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F3 = 証拠（provenance）。4秒動画 = 挙動（M1 が実際に動くこと）。M1 映像を main experiment の実行映像や仕様適応の瞬間として見せない。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2/20（瞬間的）と Transition 0/20（4条件同時）を混同しない。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口頭は中心命題1つのみ。P*・8.2倍・7.4倍は読み上げず Backup B2 に任せる。0.98→0.58 は現行モデル内の未校正パラメータによる値。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「良い結果を捨てた」と言わない。最初から決めてあった基準を適用した。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コスプレ文化が生む「制作能力」を測る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1A1A"/>
                </a:solidFill>
                <a:latin typeface="Meiryo"/>
              </a:rPr>
              <a:t>コスプレ文化が毎週生み出している制作能力を、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1A1A"/>
                </a:solidFill>
                <a:latin typeface="Meiryo"/>
              </a:rPr>
              <a:t>私たちは社会資源として一度でも測ったことがあるでしょうか。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310128"/>
            <a:ext cx="10332720" cy="25603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>
                <a:solidFill>
                  <a:srgbClr val="B5533C"/>
                </a:solidFill>
                <a:latin typeface="Meiryo"/>
              </a:rPr>
              <a:t>衣装の話ではありません。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15968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A1A1A"/>
                </a:solidFill>
                <a:latin typeface="Meiryo"/>
              </a:rPr>
              <a:t>毎回違う仕様を、一点だけ、締切までに、あり合わせの材料で作る。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8A8A8A"/>
                </a:solidFill>
                <a:latin typeface="Meiryo"/>
              </a:rPr>
              <a:t>測ったのは、この生産能力です。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なぜコスプレなのか ── 毎回違うものを作る生産体制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1887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1887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1">
                <a:solidFill>
                  <a:srgbClr val="8A8A8A"/>
                </a:solidFill>
                <a:latin typeface="Meiryo"/>
              </a:rPr>
              <a:t>製造業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1887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1">
                <a:solidFill>
                  <a:srgbClr val="33628F"/>
                </a:solidFill>
                <a:latin typeface="Meiryo"/>
              </a:rPr>
              <a:t>コスプレ制作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609344"/>
            <a:ext cx="923544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A1A1A"/>
                </a:solidFill>
                <a:latin typeface="Meiryo"/>
              </a:rPr>
              <a:t>仕様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91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8A8A8A"/>
                </a:solidFill>
                <a:latin typeface="Meiryo"/>
              </a:rPr>
              <a:t>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916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33628F"/>
                </a:solidFill>
                <a:latin typeface="Meiryo"/>
              </a:rPr>
              <a:t>毎回ちがう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9514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A1A1A"/>
                </a:solidFill>
                <a:latin typeface="Meiryo"/>
              </a:rPr>
              <a:t>ロット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9514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8A8A8A"/>
                </a:solidFill>
                <a:latin typeface="Meiryo"/>
              </a:rPr>
              <a:t>大量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29514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33628F"/>
                </a:solidFill>
                <a:latin typeface="Meiryo"/>
              </a:rPr>
              <a:t>一点物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9864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A1A1A"/>
                </a:solidFill>
                <a:latin typeface="Meiryo"/>
              </a:rPr>
              <a:t>納期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9864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8A8A8A"/>
                </a:solidFill>
                <a:latin typeface="Meiryo"/>
              </a:rPr>
              <a:t>計画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89864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33628F"/>
                </a:solidFill>
                <a:latin typeface="Meiryo"/>
              </a:rPr>
              <a:t>締切駆動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021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A1A1A"/>
                </a:solidFill>
                <a:latin typeface="Meiryo"/>
              </a:rPr>
              <a:t>現場修復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50215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8A8A8A"/>
                </a:solidFill>
                <a:latin typeface="Meiryo"/>
              </a:rPr>
              <a:t>想定外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502152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33628F"/>
                </a:solidFill>
                <a:latin typeface="Meiryo"/>
              </a:rPr>
              <a:t>日常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05656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A1A1A"/>
                </a:solidFill>
                <a:latin typeface="Meiryo"/>
              </a:rPr>
              <a:t>知識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10565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8A8A8A"/>
                </a:solidFill>
                <a:latin typeface="Meiryo"/>
              </a:rPr>
              <a:t>秘匿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105656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33628F"/>
                </a:solidFill>
                <a:latin typeface="Meiryo"/>
              </a:rPr>
              <a:t>公開共有が規範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773168"/>
            <a:ext cx="923544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5074920"/>
            <a:ext cx="9235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A1A1A"/>
                </a:solidFill>
                <a:latin typeface="Meiryo"/>
              </a:rPr>
              <a:t>危機時に足りなくなるのは、誰も備蓄していない規格外の少量品。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1A1A1A"/>
                </a:solidFill>
                <a:latin typeface="Meiryo"/>
              </a:rPr>
              <a:t>着目したのは技能ではなく、生産体制の構造。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その能力は、供給ショックで転化するか？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98448"/>
            <a:ext cx="9418320" cy="841248"/>
          </a:xfrm>
          <a:prstGeom prst="rect">
            <a:avLst/>
          </a:prstGeom>
          <a:solidFill>
            <a:srgbClr val="F6F6F6"/>
          </a:solidFill>
          <a:ln w="1778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44751"/>
            <a:ext cx="6766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A1A1A"/>
                </a:solidFill>
                <a:latin typeface="Meiryo"/>
              </a:rPr>
              <a:t>文化活動 → skill / project / network の蓄積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8132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156 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157984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DCDCDC"/>
                </a:solidFill>
                <a:latin typeface="Meiryo"/>
              </a:rPr>
              <a:t>▼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487168"/>
            <a:ext cx="9418320" cy="841248"/>
          </a:xfrm>
          <a:prstGeom prst="rect">
            <a:avLst/>
          </a:prstGeom>
          <a:solidFill>
            <a:srgbClr val="FDF1EE"/>
          </a:solidFill>
          <a:ln w="17780">
            <a:solidFill>
              <a:srgbClr val="B5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633472"/>
            <a:ext cx="6766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A1A1A"/>
                </a:solidFill>
                <a:latin typeface="Meiryo"/>
              </a:rPr>
              <a:t>供給ショック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67004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300" b="0">
                <a:solidFill>
                  <a:srgbClr val="B5533C"/>
                </a:solidFill>
                <a:latin typeface="Meiryo"/>
              </a:rPr>
              <a:t>1 step = 6 時間 ×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346703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DCDCDC"/>
                </a:solidFill>
                <a:latin typeface="Meiryo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675887"/>
            <a:ext cx="9418320" cy="841248"/>
          </a:xfrm>
          <a:prstGeom prst="rect">
            <a:avLst/>
          </a:prstGeom>
          <a:solidFill>
            <a:srgbClr val="EEF3F8"/>
          </a:solidFill>
          <a:ln w="17780">
            <a:solidFill>
              <a:srgbClr val="336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822191"/>
            <a:ext cx="6766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A1A1A"/>
                </a:solidFill>
                <a:latin typeface="Meiryo"/>
              </a:rPr>
              <a:t>未知仕様（属性のみ）  attr_0 ≥ 0.6  /  attr_2 ≥ 0.55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8587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300" b="0">
                <a:solidFill>
                  <a:srgbClr val="33628F"/>
                </a:solidFill>
                <a:latin typeface="Meiryo"/>
              </a:rPr>
              <a:t>何を作るべきかは指示しない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35423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DCDCDC"/>
                </a:solidFill>
                <a:latin typeface="Meiryo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864608"/>
            <a:ext cx="9418320" cy="841248"/>
          </a:xfrm>
          <a:prstGeom prst="rect">
            <a:avLst/>
          </a:prstGeom>
          <a:solidFill>
            <a:srgbClr val="F6F6F6"/>
          </a:solidFill>
          <a:ln w="1778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010912"/>
            <a:ext cx="6766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A1A1A"/>
                </a:solidFill>
                <a:latin typeface="Meiryo"/>
              </a:rPr>
              <a:t>modify  ─  coordination  ─  make  →  supply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A8A8A"/>
                </a:solidFill>
                <a:latin typeface="Meiryo"/>
              </a:rPr>
              <a:t>Agent 40体（うち shock 対象 6体）／属性は中立コード表記／LLM decides intent. Code determines feasibility.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Agent は既存 Project を未知仕様へ適応させた</a:t>
            </a:r>
          </a:p>
        </p:txBody>
      </p:sp>
      <p:pic>
        <p:nvPicPr>
          <p:cNvPr id="3" name="Picture 2" descr="F3_adapt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7543800" cy="3776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66760" y="1170432"/>
            <a:ext cx="3337560" cy="1877263"/>
          </a:xfrm>
          <a:prstGeom prst="rect">
            <a:avLst/>
          </a:prstGeom>
          <a:solidFill>
            <a:srgbClr val="FAFAFA"/>
          </a:solidFill>
          <a:ln w="20320">
            <a:solidFill>
              <a:srgbClr val="336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184708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1">
                <a:solidFill>
                  <a:srgbClr val="33628F"/>
                </a:solidFill>
                <a:latin typeface="Meiryo"/>
              </a:rPr>
              <a:t>［ 4秒動画を差し込む領域 ］</a:t>
            </a:r>
          </a:p>
          <a:p>
            <a:pPr algn="ctr">
              <a:lnSpc>
                <a:spcPct val="145000"/>
              </a:lnSpc>
            </a:pPr>
            <a:r>
              <a:rPr sz="1250" b="1">
                <a:solidFill>
                  <a:srgbClr val="33628F"/>
                </a:solidFill>
                <a:latin typeface="Meiryo"/>
              </a:rPr>
              <a:t>16:9  3.65 × 2.05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15468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A8A8A"/>
                </a:solidFill>
                <a:latin typeface="Consolas"/>
              </a:rPr>
              <a:t>M1 / API-free simulation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A8A8A"/>
                </a:solidFill>
                <a:latin typeface="Consolas"/>
              </a:rPr>
              <a:t>156 accumulation steps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A8A8A"/>
                </a:solidFill>
                <a:latin typeface="Consolas"/>
              </a:rPr>
              <a:t>10× playback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4160520"/>
            <a:ext cx="3337560" cy="960120"/>
          </a:xfrm>
          <a:prstGeom prst="rect">
            <a:avLst/>
          </a:prstGeom>
          <a:solidFill>
            <a:srgbClr val="F0F5F0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431596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50" b="1">
                <a:solidFill>
                  <a:srgbClr val="2E7D5B"/>
                </a:solidFill>
                <a:latin typeface="Meiryo"/>
              </a:rPr>
              <a:t>証拠 = F3（provenance）</a:t>
            </a:r>
          </a:p>
          <a:p>
            <a:pPr algn="ctr">
              <a:lnSpc>
                <a:spcPct val="150000"/>
              </a:lnSpc>
            </a:pPr>
            <a:r>
              <a:rPr sz="1250" b="1">
                <a:solidFill>
                  <a:srgbClr val="2E7D5B"/>
                </a:solidFill>
                <a:latin typeface="Meiryo"/>
              </a:rPr>
              <a:t>挙動 = 実行画面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11201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Meiryo"/>
              </a:rPr>
              <a:t>既存 Project を要求仕様に合わせて適応的に modify し、供給へ到達した。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Meiryo"/>
              </a:rPr>
              <a:t>make 試行ごとの provenance に直接記録（集計からの推論ではない）。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しかし Transition は 0/20 だった</a:t>
            </a:r>
          </a:p>
        </p:txBody>
      </p:sp>
      <p:pic>
        <p:nvPicPr>
          <p:cNvPr id="3" name="Picture 2" descr="F1_transition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7086600" cy="3438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207008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2E7D5B"/>
                </a:solidFill>
                <a:latin typeface="Meiryo"/>
              </a:rPr>
              <a:t>供給者の形成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499616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A8A8A"/>
                </a:solidFill>
                <a:latin typeface="Meiryo"/>
              </a:rPr>
              <a:t>active_supplier_count ≥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225296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700" b="1">
                <a:solidFill>
                  <a:srgbClr val="2E7D5B"/>
                </a:solidFill>
                <a:latin typeface="Meiryo"/>
              </a:rPr>
              <a:t>20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65376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2E7D5B"/>
                </a:solidFill>
                <a:latin typeface="Meiryo"/>
              </a:rPr>
              <a:t>供給の継続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57984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A8A8A"/>
                </a:solidFill>
                <a:latin typeface="Meiryo"/>
              </a:rPr>
              <a:t>supply_duration ≥ 4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1883664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700" b="1">
                <a:solidFill>
                  <a:srgbClr val="2E7D5B"/>
                </a:solidFill>
                <a:latin typeface="Meiryo"/>
              </a:rPr>
              <a:t>20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523744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2E7D5B"/>
                </a:solidFill>
                <a:latin typeface="Meiryo"/>
              </a:rPr>
              <a:t>協調関係の形成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816351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A8A8A"/>
                </a:solidFill>
                <a:latin typeface="Meiryo"/>
              </a:rPr>
              <a:t>coordination_edges ≥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542032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700" b="1">
                <a:solidFill>
                  <a:srgbClr val="2E7D5B"/>
                </a:solidFill>
                <a:latin typeface="Meiryo"/>
              </a:rPr>
              <a:t>20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18211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B5533C"/>
                </a:solidFill>
                <a:latin typeface="Meiryo"/>
              </a:rPr>
              <a:t>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47472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A8A8A"/>
                </a:solidFill>
                <a:latin typeface="Meiryo"/>
              </a:rPr>
              <a:t>community_supply_share ≥ 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320040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700" b="1">
                <a:solidFill>
                  <a:srgbClr val="B5533C"/>
                </a:solidFill>
                <a:latin typeface="Meiryo"/>
              </a:rPr>
              <a:t>2 / 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3913632"/>
            <a:ext cx="388620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06908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B5533C"/>
                </a:solidFill>
                <a:latin typeface="Meiryo"/>
              </a:rPr>
              <a:t>4条件の同時成立（Transition）= 0 / 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28032"/>
            <a:ext cx="11201400" cy="1188720"/>
          </a:xfrm>
          <a:prstGeom prst="rect">
            <a:avLst/>
          </a:prstGeom>
          <a:solidFill>
            <a:srgbClr val="F0F5F2"/>
          </a:solidFill>
          <a:ln w="1651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10912"/>
            <a:ext cx="10652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供給者形成・継続・協調は全 20 run で成立。量的条件との同時成立が残った。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※ 量の条件は 2 / 20 run で瞬間的に充足したが、供給が継続する時刻には届いていない。「share が 0/20」ではない。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なぜか ── 仕様適応後の production success が律速した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841248"/>
          </a:xfrm>
          <a:prstGeom prst="rect">
            <a:avLst/>
          </a:prstGeom>
          <a:solidFill>
            <a:srgbClr val="F0F5F2"/>
          </a:solidFill>
          <a:ln w="2032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52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900" b="1">
                <a:solidFill>
                  <a:srgbClr val="1A1A1A"/>
                </a:solidFill>
                <a:latin typeface="Meiryo"/>
              </a:rPr>
              <a:t>量を止めていたのは、材料でも設備でも時間でもなく、</a:t>
            </a:r>
          </a:p>
          <a:p>
            <a:pPr algn="ctr">
              <a:lnSpc>
                <a:spcPct val="145000"/>
              </a:lnSpc>
            </a:pPr>
            <a:r>
              <a:rPr sz="1900" b="1">
                <a:solidFill>
                  <a:srgbClr val="1A1A1A"/>
                </a:solidFill>
                <a:latin typeface="Meiryo"/>
              </a:rPr>
              <a:t>モデル上の仕様適応後の production success だった。</a:t>
            </a:r>
          </a:p>
        </p:txBody>
      </p:sp>
      <p:pic>
        <p:nvPicPr>
          <p:cNvPr id="5" name="Picture 4" descr="F4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21408"/>
            <a:ext cx="7726679" cy="3081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2121408"/>
            <a:ext cx="3246120" cy="2148840"/>
          </a:xfrm>
          <a:prstGeom prst="rect">
            <a:avLst/>
          </a:prstGeom>
          <a:solidFill>
            <a:srgbClr val="F6F6F6"/>
          </a:solidFill>
          <a:ln w="1524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2286000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1A1A1A"/>
                </a:solidFill>
                <a:latin typeface="Meiryo"/>
              </a:rPr>
              <a:t>仕様適応のコスト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761488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A8A8A"/>
                </a:solidFill>
                <a:latin typeface="Meiryo"/>
              </a:rPr>
              <a:t>modify 0箇所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3054096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>
                <a:solidFill>
                  <a:srgbClr val="2E7D5B"/>
                </a:solidFill>
                <a:latin typeface="Meiryo"/>
              </a:rPr>
              <a:t>p ≈ 0.98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85248" y="3035808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8A8A8A"/>
                </a:solidFill>
                <a:latin typeface="Meiryo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2448" y="2761488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A8A8A"/>
                </a:solidFill>
                <a:latin typeface="Meiryo"/>
              </a:rPr>
              <a:t>modify 2箇所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2448" y="3054096"/>
            <a:ext cx="12070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>
                <a:solidFill>
                  <a:srgbClr val="B5533C"/>
                </a:solidFill>
                <a:latin typeface="Meiryo"/>
              </a:rPr>
              <a:t>p ≈ 0.58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73075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eiryo"/>
              </a:rPr>
              <a:t>要求仕様に合わせるほど、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Meiryo"/>
              </a:rPr>
              <a:t>作れる確率が下がる。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4407408"/>
            <a:ext cx="3246120" cy="804672"/>
          </a:xfrm>
          <a:prstGeom prst="rect">
            <a:avLst/>
          </a:prstGeom>
          <a:solidFill>
            <a:srgbClr val="FDF1EE"/>
          </a:solidFill>
          <a:ln w="15240">
            <a:solidFill>
              <a:srgbClr val="B5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4535424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B5533C"/>
                </a:solidFill>
                <a:latin typeface="Meiryo"/>
              </a:rPr>
              <a:t>※ 現行モデル内の値。未校正の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B5533C"/>
                </a:solidFill>
                <a:latin typeface="Meiryo"/>
              </a:rPr>
              <a:t>modify_difficulty_penalty = 0.35 による。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B5533C"/>
                </a:solidFill>
                <a:latin typeface="Meiryo"/>
              </a:rPr>
              <a:t>現実の成功率ではない。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94960"/>
            <a:ext cx="7726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A8A"/>
                </a:solidFill>
                <a:latin typeface="Meiryo"/>
              </a:rPr>
              <a:t>make 試行 280 件（条件A）｜ 材料不足で阻止 0 件、設備なしで阻止 0 件、時間予算は 35% が未使用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61888"/>
            <a:ext cx="11201400" cy="530352"/>
          </a:xfrm>
          <a:prstGeom prst="rect">
            <a:avLst/>
          </a:prstGeom>
          <a:noFill/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062472"/>
            <a:ext cx="10744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A8A8A"/>
                </a:solidFill>
                <a:latin typeface="Meiryo"/>
              </a:rPr>
              <a:t>P* / sensitivity の詳細は Backup B2。penalty = 0.00 は「追加ペナルティをゼロと仮定したモデル上の構造的上限ケース」であり、達成可能な改善策ではない。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そして私は「6/20」を採用しなかった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B5533C"/>
                </a:solidFill>
                <a:latin typeface="Meiryo"/>
              </a:rPr>
              <a:t>── 実行時 config が事前登録値と違っていたから</a:t>
            </a:r>
          </a:p>
        </p:txBody>
      </p:sp>
      <p:pic>
        <p:nvPicPr>
          <p:cNvPr id="4" name="Picture 3" descr="F5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7904"/>
            <a:ext cx="5074920" cy="42793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06440" y="1517904"/>
            <a:ext cx="5897880" cy="932688"/>
          </a:xfrm>
          <a:prstGeom prst="rect">
            <a:avLst/>
          </a:prstGeom>
          <a:solidFill>
            <a:srgbClr val="EEF3F8"/>
          </a:solidFill>
          <a:ln w="17780">
            <a:solidFill>
              <a:srgbClr val="336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16752" y="1645920"/>
            <a:ext cx="5486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1">
                <a:solidFill>
                  <a:srgbClr val="33628F"/>
                </a:solidFill>
                <a:latin typeface="Meiryo"/>
              </a:rPr>
              <a:t>事前登録  D4 = share 0.25 / suppliers 3 /</a:t>
            </a:r>
          </a:p>
          <a:p>
            <a:pPr algn="l">
              <a:lnSpc>
                <a:spcPct val="145000"/>
              </a:lnSpc>
            </a:pPr>
            <a:r>
              <a:rPr sz="1350" b="1">
                <a:solidFill>
                  <a:srgbClr val="33628F"/>
                </a:solidFill>
                <a:latin typeface="Meiryo"/>
              </a:rPr>
              <a:t>　　　　　duration 4 / edges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2670048"/>
            <a:ext cx="5897880" cy="786384"/>
          </a:xfrm>
          <a:prstGeom prst="rect">
            <a:avLst/>
          </a:prstGeom>
          <a:solidFill>
            <a:srgbClr val="FAF4EE"/>
          </a:solidFill>
          <a:ln w="16510">
            <a:solidFill>
              <a:srgbClr val="C2A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6752" y="2798064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実行時 config（暫定値）→ Transition 6 / 20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【副次的記録・保持】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3547872"/>
            <a:ext cx="5897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B5533C"/>
                </a:solidFill>
                <a:latin typeface="Meiryo"/>
              </a:rPr>
              <a:t>▼  事前登録値との突合で不一致を検出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3950208"/>
            <a:ext cx="5897880" cy="786384"/>
          </a:xfrm>
          <a:prstGeom prst="rect">
            <a:avLst/>
          </a:prstGeom>
          <a:solidFill>
            <a:srgbClr val="EAF3EE"/>
          </a:solidFill>
          <a:ln w="2032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4078224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1">
                <a:solidFill>
                  <a:srgbClr val="2E7D5B"/>
                </a:solidFill>
                <a:latin typeface="Meiryo"/>
              </a:rPr>
              <a:t>事前登録値を適用 → Transition 0 / 20</a:t>
            </a:r>
          </a:p>
          <a:p>
            <a:pPr algn="l">
              <a:lnSpc>
                <a:spcPct val="145000"/>
              </a:lnSpc>
            </a:pPr>
            <a:r>
              <a:rPr sz="1350" b="1">
                <a:solidFill>
                  <a:srgbClr val="2E7D5B"/>
                </a:solidFill>
                <a:latin typeface="Meiryo"/>
              </a:rPr>
              <a:t>【主結果】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882896"/>
            <a:ext cx="5897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ログは1行も改変していない。判定基準を選び直したのではない。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5394960"/>
            <a:ext cx="589788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5504688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8A8A8A"/>
                </a:solidFill>
                <a:latin typeface="Consolas"/>
              </a:rPr>
              <a:t>216 tests  /  preregistered adjudication  /  API-free replay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次は現実のコスプレ制作能力を測る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5257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E7D5B"/>
                </a:solidFill>
                <a:latin typeface="Meiryo"/>
              </a:rPr>
              <a:t>研究が示したこと（モデル内）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36192"/>
            <a:ext cx="5257800" cy="1828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19072"/>
            <a:ext cx="52578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eiryo"/>
              </a:rPr>
              <a:t>既存 Project を要求仕様へ適応的に modify し、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eiryo"/>
              </a:rPr>
              <a:t>供給へ到達した。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eiryo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eiryo"/>
              </a:rPr>
              <a:t>量の律速は、仕様適応後の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eiryo"/>
              </a:rPr>
              <a:t>production success だった。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A1A1A"/>
                </a:solidFill>
                <a:latin typeface="Meiryo"/>
              </a:rPr>
              <a:t>この係数は未校正である。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115568"/>
            <a:ext cx="18288" cy="4160520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15568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33628F"/>
                </a:solidFill>
                <a:latin typeface="Meiryo"/>
              </a:rPr>
              <a:t>ここから先は製品仮説（研究結果ではない）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536192"/>
            <a:ext cx="5120640" cy="18288"/>
          </a:xfrm>
          <a:prstGeom prst="rect">
            <a:avLst/>
          </a:prstGeom>
          <a:solidFill>
            <a:srgbClr val="336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19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A1A1A"/>
                </a:solidFill>
                <a:latin typeface="Meiryo"/>
              </a:rPr>
              <a:t>Specification Adaptation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5120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実際の制作者が未知仕様へ適応するときの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　成功率 ／ 制作時間 ／ 歩留まり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　材料・設備制約 ／ 協調形成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を測る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468112"/>
            <a:ext cx="11018520" cy="841248"/>
          </a:xfrm>
          <a:prstGeom prst="rect">
            <a:avLst/>
          </a:prstGeom>
          <a:solidFill>
            <a:srgbClr val="F0F5F2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669280"/>
            <a:ext cx="11018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1A1A1A"/>
                </a:solidFill>
                <a:latin typeface="Meiryo"/>
              </a:rPr>
              <a:t>好きなことを続けてください。それが安全保障になる社会へ。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Backup B1 — Agent 行動・解の多様性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1018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8A8A8A"/>
                </a:solidFill>
                <a:latin typeface="Meiryo"/>
              </a:rPr>
              <a:t>想定質問: 「その1件は都合のよい好例では？」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27632"/>
            <a:ext cx="11018520" cy="1051560"/>
          </a:xfrm>
          <a:prstGeom prst="rect">
            <a:avLst/>
          </a:prstGeom>
          <a:solidFill>
            <a:srgbClr val="F0F5F2"/>
          </a:solidFill>
          <a:ln w="1651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561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1A1A"/>
                </a:solidFill>
                <a:latin typeface="Meiryo"/>
              </a:rPr>
              <a:t>供給を伴う make 記録 606 件のうち 282 件が、同時刻に協調関係を持つ作り手によるもの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1A1A"/>
                </a:solidFill>
                <a:latin typeface="Meiryo"/>
              </a:rPr>
              <a:t>（20/20 run で発生）。経路は1件だけの偶然ではない。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1018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条件A の make 試行 280 件の内訳:  供給成立 151 ／ 確率的な制作失敗 112 ／ 仕様未達 17 ／ 材料不足で阻止 0 ／ 設備なしで阻止 0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749039"/>
            <a:ext cx="11018520" cy="1417320"/>
          </a:xfrm>
          <a:prstGeom prst="rect">
            <a:avLst/>
          </a:prstGeom>
          <a:solidFill>
            <a:srgbClr val="FDF1EE"/>
          </a:solidFill>
          <a:ln w="16510">
            <a:solidFill>
              <a:srgbClr val="B5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208"/>
            <a:ext cx="10561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ただし解の多様性は低い（隠さない）: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　・供給に使われた制作対象は 2 種のみ（606 件中 579 件が同一）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　・modify の内容も「2属性を各 +0.15」がほぼ全 run で反復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49240"/>
            <a:ext cx="11018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8A8A8A"/>
                </a:solidFill>
                <a:latin typeface="Meiryo"/>
              </a:rPr>
              <a:t>言い方: 「1件は代表例であり、経路自体は 20/20 run で成立したが、解の多様性は低い」。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8A8A8A"/>
                </a:solidFill>
                <a:latin typeface="Meiryo"/>
              </a:rPr>
              <a:t>禁止: 「多様な創発が確認された」「未知用途への創発的再構成を証明した」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Backup B2 — D4 / P* / sensitivity の詳細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1018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8A8A8A"/>
                </a:solidFill>
                <a:latin typeface="Meiryo"/>
              </a:rPr>
              <a:t>想定質問: 「なぜ share だけ届かない？」「閾値を変えれば結果が変わるのでは？」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1018520" cy="731520"/>
          </a:xfrm>
          <a:prstGeom prst="rect">
            <a:avLst/>
          </a:prstGeom>
          <a:solidFill>
            <a:srgbClr val="EEF3F8"/>
          </a:solidFill>
          <a:ln w="16510">
            <a:solidFill>
              <a:srgbClr val="336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561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1A1A1A"/>
                </a:solidFill>
                <a:latin typeface="Meiryo"/>
              </a:rPr>
              <a:t>share 2/20 が「瞬間的」な理由: share の最大は t+0、duration ≥ 4 の資格は t+3 以降。両者の時間帯が重ならない。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A8A8A"/>
                </a:solidFill>
                <a:latin typeface="Meiryo"/>
              </a:rPr>
              <a:t>penalty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87168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A8A8A"/>
                </a:solidFill>
                <a:latin typeface="Meiryo"/>
              </a:rPr>
              <a:t>供給 (units/step)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487168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A8A8A"/>
                </a:solidFill>
                <a:latin typeface="Meiryo"/>
              </a:rPr>
              <a:t>転化確率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52928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6.511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852928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0.9878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0.15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55264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5.008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255264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0.0662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A1A1A"/>
                </a:solidFill>
                <a:latin typeface="Meiryo"/>
              </a:rPr>
              <a:t>0.35  ← 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57600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3.830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657600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0.0003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59936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0.50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59936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3.255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4059936"/>
            <a:ext cx="2194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A8A"/>
                </a:solidFill>
                <a:latin typeface="Meiryo"/>
              </a:rPr>
              <a:t>0.0000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450592"/>
            <a:ext cx="3703320" cy="2240280"/>
          </a:xfrm>
          <a:prstGeom prst="rect">
            <a:avLst/>
          </a:prstGeom>
          <a:solidFill>
            <a:srgbClr val="F6F6F6"/>
          </a:solidFill>
          <a:ln w="1397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596896"/>
            <a:ext cx="3291840" cy="202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P* = 0.0426</a:t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D4 share-equivalent</a:t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sensitivity boundary</a:t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現行値 0.35 はその約 8.2 倍</a:t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penalty の効果は条件差の</a:t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約 7.4 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709160"/>
            <a:ext cx="11018520" cy="731520"/>
          </a:xfrm>
          <a:prstGeom prst="rect">
            <a:avLst/>
          </a:prstGeom>
          <a:solidFill>
            <a:srgbClr val="FDF1EE"/>
          </a:solidFill>
          <a:ln w="16510">
            <a:solidFill>
              <a:srgbClr val="B5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55464"/>
            <a:ext cx="10561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5533C"/>
                </a:solidFill>
                <a:latin typeface="Meiryo"/>
              </a:rPr>
              <a:t>penalty = 0.00 は「追加ペナルティをゼロと仮定したモデル上の構造的上限ケース」。達成可能な改善策ではない。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23560"/>
            <a:ext cx="11018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8A8A8A"/>
                </a:solidFill>
                <a:latin typeface="Meiryo"/>
              </a:rPr>
              <a:t>「閾値を変えれば結果が変わるのでは」への回答: 研究側の閾値は事前登録値のまま一切変更していない。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8A8A8A"/>
                </a:solidFill>
                <a:latin typeface="Meiryo"/>
              </a:rPr>
              <a:t>禁止: 「損益分岐」という語（正式名称は D4 share-equivalent sensitivity boundary）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Meiryo"/>
              </a:rPr>
              <a:t>Backup B3 — 再現性 / config 不一致 / corrected adjudication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1018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8A8A8A"/>
                </a:solidFill>
                <a:latin typeface="Meiryo"/>
              </a:rPr>
              <a:t>想定質問: 「なぜ config がずれた？」「後から都合よく判定を変えたのでは？」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1018520" cy="1005840"/>
          </a:xfrm>
          <a:prstGeom prst="rect">
            <a:avLst/>
          </a:prstGeom>
          <a:solidFill>
            <a:srgbClr val="FAF4EE"/>
          </a:solidFill>
          <a:ln w="16510">
            <a:solidFill>
              <a:srgbClr val="C2A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561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原因: D4 を確定した commit が base.yaml の D5 ブロックのみ更新し、直下の D4 ブロックを素通りした。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検出漏れ: 逸脱チェックが「20 run で同じ値か」しか見ず、事前登録値との照合を欠いていた。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61488"/>
            <a:ext cx="11018520" cy="1005840"/>
          </a:xfrm>
          <a:prstGeom prst="rect">
            <a:avLst/>
          </a:prstGeom>
          <a:solidFill>
            <a:srgbClr val="EAF3EE"/>
          </a:solidFill>
          <a:ln w="1651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561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再判定は判定ロジックを再実装していない。既存の TransitionJudge.evaluate() に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ログ済みの閾値非依存な実測値を再投入。runtime 閾値で replay すると 20 run × 8 step 全件が完全一致。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50208"/>
            <a:ext cx="11018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live run 2本（条件A seed 2/4、penalty=0.00）で replay 近似を検証:  seed 2: D=+1.020（許容 ±2.00）　seed 4: D=+0.120（許容 ±2.10）  → 両者とも許容内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98848"/>
            <a:ext cx="11018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是正: 実行時 config を configs/as_executed/ に保存（編集禁止）／base.yaml を事前登録値へ同期／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A1A1A"/>
                </a:solidFill>
                <a:latin typeface="Meiryo"/>
              </a:rPr>
              <a:t>三者突合監査と同期テストを追加。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376672"/>
            <a:ext cx="11018520" cy="868680"/>
          </a:xfrm>
          <a:prstGeom prst="rect">
            <a:avLst/>
          </a:prstGeom>
          <a:solidFill>
            <a:srgbClr val="F6F6F6"/>
          </a:solidFill>
          <a:ln w="1397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561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API 不使用で再現できる範囲: M1 全体 ／ 感度分析 replay ／ 主結果の再判定 ／ テスト 216 件。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1A1A1A"/>
                </a:solidFill>
                <a:latin typeface="Meiryo"/>
              </a:rPr>
              <a:t>main experiment の再実行のみ 960 calls・約 $18.5。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